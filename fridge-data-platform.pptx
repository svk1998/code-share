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21295C"/>
                </a:solidFill>
                <a:latin typeface="Calibri"/>
              </a:rPr>
              <a:t>USD / month by component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estimate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645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GCS storage</c:v>
                  </c:pt>
                  <c:pt idx="1">
                    <c:v>BQ storage</c:v>
                  </c:pt>
                  <c:pt idx="2">
                    <c:v>BQ compute</c:v>
                  </c:pt>
                  <c:pt idx="3">
                    <c:v>Orchestration</c:v>
                  </c:pt>
                  <c:pt idx="4">
                    <c:v>LLM enrichment</c:v>
                  </c:pt>
                  <c:pt idx="5">
                    <c:v>Monitoring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100</c:v>
                </c:pt>
                <c:pt idx="2">
                  <c:v>100</c:v>
                </c:pt>
                <c:pt idx="3">
                  <c:v>20</c:v>
                </c:pt>
                <c:pt idx="4">
                  <c:v>50</c:v>
                </c:pt>
                <c:pt idx="5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estimate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645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GCS storage</c:v>
                  </c:pt>
                  <c:pt idx="1">
                    <c:v>BQ storage</c:v>
                  </c:pt>
                  <c:pt idx="2">
                    <c:v>BQ compute</c:v>
                  </c:pt>
                  <c:pt idx="3">
                    <c:v>Orchestration</c:v>
                  </c:pt>
                  <c:pt idx="4">
                    <c:v>LLM enrichment</c:v>
                  </c:pt>
                  <c:pt idx="5">
                    <c:v>Monitoring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300</c:v>
                </c:pt>
                <c:pt idx="2">
                  <c:v>400</c:v>
                </c:pt>
                <c:pt idx="3">
                  <c:v>50</c:v>
                </c:pt>
                <c:pt idx="4">
                  <c:v>200</c:v>
                </c:pt>
                <c:pt idx="5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645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6454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A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7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6454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645920"/>
            <a:ext cx="5852160" cy="5852160"/>
          </a:xfrm>
          <a:prstGeom prst="ellipse">
            <a:avLst/>
          </a:prstGeom>
          <a:solidFill>
            <a:srgbClr val="065A82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206240"/>
            <a:ext cx="4023360" cy="402336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051560"/>
            <a:ext cx="1051560" cy="10515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583" y="1282903"/>
            <a:ext cx="588874" cy="5888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FRIDGE  ·  L1–L4 RECOGNITION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Fridge Intelligence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Platform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cost-effective pipeline on Google Cloud — turning raw recognition events into governed, monetizable household intelligence.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 Architecture  ·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design principles that drive cost and reliability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93592" cy="2286000"/>
          </a:xfrm>
          <a:prstGeom prst="roundRect">
            <a:avLst>
              <a:gd name="adj" fmla="val 3600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F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733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17980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35000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Batch-first ingestion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71576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load jobs are free. No Pub/Sub, no Dataflow on the main path — fridge data has zero real-time need.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417320"/>
            <a:ext cx="3593592" cy="2286000"/>
          </a:xfrm>
          <a:prstGeom prst="roundRect">
            <a:avLst>
              <a:gd name="adj" fmla="val 3600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F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673352"/>
            <a:ext cx="566928" cy="566928"/>
          </a:xfrm>
          <a:prstGeom prst="ellipse">
            <a:avLst/>
          </a:prstGeom>
          <a:solidFill>
            <a:srgbClr val="0299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868" y="179807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35000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Diffs, not snapshots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81144" y="271576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emit only item changes (add / remove / level). 10–20x volume reduction before a single rupee is spent.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417320"/>
            <a:ext cx="3593592" cy="2286000"/>
          </a:xfrm>
          <a:prstGeom prst="roundRect">
            <a:avLst>
              <a:gd name="adj" fmla="val 3600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F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67335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340" y="179807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35000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lakehouse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271576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 in BigQuery. Raw is immutable and replayable from a GCS archive at Coldline prices.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93592" cy="2286000"/>
          </a:xfrm>
          <a:prstGeom prst="roundRect">
            <a:avLst>
              <a:gd name="adj" fmla="val 3600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F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02997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4358396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9103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scale-to-zero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04672" y="527608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 + Workflows + Cloud Run Jobs. Per-second billing, retries built in, nothing idles.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977640"/>
            <a:ext cx="3593592" cy="2286000"/>
          </a:xfrm>
          <a:prstGeom prst="roundRect">
            <a:avLst>
              <a:gd name="adj" fmla="val 3600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F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42336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868" y="4358396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9103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by design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81144" y="527608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/ GDPR erasure jobs, policy-tagged sensitive columns, retention defined as code in Terraform.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977640"/>
            <a:ext cx="3593592" cy="2286000"/>
          </a:xfrm>
          <a:prstGeom prst="roundRect">
            <a:avLst>
              <a:gd name="adj" fmla="val 3600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F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4233672"/>
            <a:ext cx="566928" cy="566928"/>
          </a:xfrm>
          <a:prstGeom prst="ellipse">
            <a:avLst/>
          </a:prstGeom>
          <a:solidFill>
            <a:srgbClr val="02997A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2340" y="4358396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4910328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SLO-driven observability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57616" y="527608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SLOs, a handful of high-signal alerts. Cloud Monitoring + Managed Prometheus, Grafana-compatible.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volume math — why this platform stays cheap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EAF3F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fridges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captures / day, ~3 changed items each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50876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EAF3F6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~18 GB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47872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per 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47872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gzip JSONL diffs at ~1.5 KB per event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50876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EAF3F6"/>
          </a:solidFill>
          <a:ln/>
        </p:spPr>
      </p:sp>
      <p:sp>
        <p:nvSpPr>
          <p:cNvPr id="13" name="Text 11"/>
          <p:cNvSpPr/>
          <p:nvPr/>
        </p:nvSpPr>
        <p:spPr>
          <a:xfrm>
            <a:off x="6364224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~550 GB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364224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into bronze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4224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by BigQuery standards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1508760"/>
            <a:ext cx="2697480" cy="2148840"/>
          </a:xfrm>
          <a:prstGeom prst="roundRect">
            <a:avLst>
              <a:gd name="adj" fmla="val 3830"/>
            </a:avLst>
          </a:prstGeom>
          <a:solidFill>
            <a:srgbClr val="EAF3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80576" y="1737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10–20x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80576" y="2532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by diff-only events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0576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shipping full fridge snapshots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6949440" cy="1965960"/>
          </a:xfrm>
          <a:prstGeom prst="roundRect">
            <a:avLst>
              <a:gd name="adj" fmla="val 4186"/>
            </a:avLst>
          </a:prstGeom>
          <a:solidFill>
            <a:srgbClr val="21295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3891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4529938"/>
            <a:ext cx="358445" cy="358445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691640" y="431596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~$350 – 1,100 / month, all-in (1M devices)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691640" y="4754880"/>
            <a:ext cx="5577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+ BigQuery + Cloud Run + LLM enrichment + monitoring.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platform built on Pub/Sub + Dataflow + Composer: $3–5K / month — and more code to operate.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680960" y="4069080"/>
            <a:ext cx="3959352" cy="1965960"/>
          </a:xfrm>
          <a:prstGeom prst="roundRect">
            <a:avLst>
              <a:gd name="adj" fmla="val 4186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955280" y="43891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098" y="4529938"/>
            <a:ext cx="358445" cy="358445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8732520" y="431596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Headroom: 10M devices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732520" y="475488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5.5 TB / month — still comfortably in on-demand BigQuery territory before slot commitments make sense.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20624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lakehouse on GCS + BigQuery, orchestrated by Cloud Run Jobs</a:t>
            </a:r>
            <a:endParaRPr lang="en-US" sz="2200" dirty="0"/>
          </a:p>
        </p:txBody>
      </p:sp>
      <p:pic>
        <p:nvPicPr>
          <p:cNvPr id="4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147" y="914400"/>
            <a:ext cx="10246659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— GCS landing + free BigQuery load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72184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72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417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emits diffs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07008" y="171907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vision detects L1–L4; only add / remove / level-change events leave the device.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41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7008" y="238658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SmartThings batches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268833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registry; per-device gzip JSONL batches every 4–6 h (5–8x compression).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10712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10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335584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landing (regional)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07008" y="36576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landing/device_id=…/date=… prefixes; Eventarc or hourly trigger picks up new files.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7008" y="432511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enforces the contract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07008" y="462686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Job checks JSON Schema per schema_version; valid → raw/, invalid → quarantine/.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49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7008" y="529437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job into bronze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07008" y="55961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LOAD JOB — zero ingestion cost. Raw archive kept on GCS lifecycle for replay.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60920" y="1417320"/>
            <a:ext cx="4279392" cy="4754880"/>
          </a:xfrm>
          <a:prstGeom prst="roundRect">
            <a:avLst>
              <a:gd name="adj" fmla="val 1923"/>
            </a:avLst>
          </a:prstGeom>
          <a:solidFill>
            <a:srgbClr val="EAF3F6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35240" y="2103120"/>
            <a:ext cx="3749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Pub/Sub, no Dataflow on the main path — fridge events have no real-time requirement.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bucket (asia-south1 / us-central1); multi-region costs ~2x for no benefit here.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Per-device GCS prefixes make GDPR/DPDP erasure a simple prefix delete.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 at the door: unknown schema_version is quarantined and alerted — never silently dropped.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DLQ = quarantine/ prefix + bronze.rejected_events with rejection reason; weekly triage.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later: a narrow Pub/Sub → BigQuery subscription path only for real-time features.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BigQuery lakehouse — medallion table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F5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502920"/>
          </a:xfrm>
          <a:prstGeom prst="roundRect">
            <a:avLst>
              <a:gd name="adj" fmla="val 16364"/>
            </a:avLst>
          </a:prstGeom>
          <a:solidFill>
            <a:srgbClr val="8C623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 — raw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raw_events: append-only, full payload as JSON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day(captured_at), CLUSTER BY device_id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require_partition_filter = true (blocks runaway scans)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expiry 90 d — GCS archive is the long-term copy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 = hash(device, time, item) → idempotent replay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2544" y="141732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EFF2F4"/>
          </a:solidFill>
          <a:ln/>
        </p:spPr>
      </p:sp>
      <p:sp>
        <p:nvSpPr>
          <p:cNvPr id="9" name="Shape 7"/>
          <p:cNvSpPr/>
          <p:nvPr/>
        </p:nvSpPr>
        <p:spPr>
          <a:xfrm>
            <a:off x="4352544" y="1417320"/>
            <a:ext cx="3657600" cy="502920"/>
          </a:xfrm>
          <a:prstGeom prst="roundRect">
            <a:avLst>
              <a:gd name="adj" fmla="val 16364"/>
            </a:avLst>
          </a:prstGeom>
          <a:solidFill>
            <a:srgbClr val="6E7B85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 — cleaned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81144" y="2084832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fridge_items as SCD Type 2: valid_from / valid_to / is_current — full appear/disappear history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item_events deduped on event_id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product_catalog: canonical_product_id, confidence, resolved_by provenance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gate every promotion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3657600" cy="3749040"/>
          </a:xfrm>
          <a:prstGeom prst="roundRect">
            <a:avLst>
              <a:gd name="adj" fmla="val 2250"/>
            </a:avLst>
          </a:prstGeom>
          <a:solidFill>
            <a:srgbClr val="FBF3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156448" y="1417320"/>
            <a:ext cx="3657600" cy="502920"/>
          </a:xfrm>
          <a:prstGeom prst="roundRect">
            <a:avLst>
              <a:gd name="adj" fmla="val 16364"/>
            </a:avLst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8385048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— marts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5048" y="2084832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household_features, replenishment_cycles, waste_metrics, health_scores, segments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marts joinable to TV-ACR exposure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rows deletable; anonymized aggregates survive erasure legally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get gold-only IAM access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54864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396" y="5611124"/>
            <a:ext cx="317480" cy="317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5440680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evolution without migrations:  </a:t>
            </a:r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firmware fields land in bronze's JSON payload automatically; promotion to typed silver columns is a reviewed dbt PR. BigQuery ALTER TABLE ADD COLUMN is online and free.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&amp; orchestration — dbt on Cloud Run Jobs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4800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3317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Scheduler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26151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triggers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70048" y="2121408"/>
            <a:ext cx="228600" cy="365760"/>
          </a:xfrm>
          <a:prstGeom prst="rightArrow">
            <a:avLst/>
          </a:prstGeom>
          <a:solidFill>
            <a:srgbClr val="02997A"/>
          </a:solidFill>
          <a:ln/>
        </p:spPr>
      </p:sp>
      <p:sp>
        <p:nvSpPr>
          <p:cNvPr id="10" name="Shape 7"/>
          <p:cNvSpPr/>
          <p:nvPr/>
        </p:nvSpPr>
        <p:spPr>
          <a:xfrm>
            <a:off x="2880360" y="150876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0896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602" y="184800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63240" y="23317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Workflows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063240" y="26151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chaining + retries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01768" y="2121408"/>
            <a:ext cx="228600" cy="365760"/>
          </a:xfrm>
          <a:prstGeom prst="rightArrow">
            <a:avLst/>
          </a:prstGeom>
          <a:solidFill>
            <a:srgbClr val="02997A"/>
          </a:solidFill>
          <a:ln/>
        </p:spPr>
      </p:sp>
      <p:sp>
        <p:nvSpPr>
          <p:cNvPr id="16" name="Shape 12"/>
          <p:cNvSpPr/>
          <p:nvPr/>
        </p:nvSpPr>
        <p:spPr>
          <a:xfrm>
            <a:off x="5212080" y="1508760"/>
            <a:ext cx="2103120" cy="1600200"/>
          </a:xfrm>
          <a:prstGeom prst="roundRect">
            <a:avLst>
              <a:gd name="adj" fmla="val 5143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40680" y="17373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322" y="184800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23317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Jobs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394960" y="261518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build · enrichment · erasure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429000"/>
            <a:ext cx="6949440" cy="2743200"/>
          </a:xfrm>
          <a:prstGeom prst="roundRect">
            <a:avLst>
              <a:gd name="adj" fmla="val 3000"/>
            </a:avLst>
          </a:prstGeom>
          <a:solidFill>
            <a:srgbClr val="EAF3F6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3657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dbt project rules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22960" y="40690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incremental with insert_overwrite on daily partitions — history is never rebuilt in routine runs.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uniqueness on event_id, not-null keys, accepted L1 values, resolution-confidence drift.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refresh is a deliberate, flagged backfill runbook — never an accident.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on PR: dbt build --select state:modified+ against a stage dataset; merge is blocked on test failures.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7726680" y="1508760"/>
            <a:ext cx="3913632" cy="1554480"/>
          </a:xfrm>
          <a:prstGeom prst="roundRect">
            <a:avLst>
              <a:gd name="adj" fmla="val 5294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955280" y="1709928"/>
            <a:ext cx="502920" cy="502920"/>
          </a:xfrm>
          <a:prstGeom prst="ellipse">
            <a:avLst/>
          </a:prstGeom>
          <a:solidFill>
            <a:srgbClr val="02997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922" y="1820570"/>
            <a:ext cx="281635" cy="28163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613648" y="1691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Composer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8613648" y="202082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$400+/month of idle Airflow. Workflows + Scheduler cost ~nothing and cover retries + chaining.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726680" y="3200400"/>
            <a:ext cx="3913632" cy="1554480"/>
          </a:xfrm>
          <a:prstGeom prst="roundRect">
            <a:avLst>
              <a:gd name="adj" fmla="val 5294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955280" y="3401568"/>
            <a:ext cx="502920" cy="502920"/>
          </a:xfrm>
          <a:prstGeom prst="ellipse">
            <a:avLst/>
          </a:prstGeom>
          <a:solidFill>
            <a:srgbClr val="02997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922" y="3512210"/>
            <a:ext cx="281635" cy="281635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613648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Terraform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8613648" y="3712464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Buckets, datasets, jobs, alerts, retention policies — dev / stage / prod as separate GCP projects.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7726680" y="4892040"/>
            <a:ext cx="3913632" cy="1280160"/>
          </a:xfrm>
          <a:prstGeom prst="roundRect">
            <a:avLst>
              <a:gd name="adj" fmla="val 6429"/>
            </a:avLst>
          </a:prstGeom>
          <a:solidFill>
            <a:srgbClr val="21295C"/>
          </a:solidFill>
          <a:ln/>
        </p:spPr>
      </p:sp>
      <p:sp>
        <p:nvSpPr>
          <p:cNvPr id="35" name="Text 28"/>
          <p:cNvSpPr/>
          <p:nvPr/>
        </p:nvSpPr>
        <p:spPr>
          <a:xfrm>
            <a:off x="7973568" y="5029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by design: </a:t>
            </a:r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GCS file can be re-loaded, any partition range re-run, safely.</a:t>
            </a:r>
            <a:endParaRPr lang="en-US" sz="1250" dirty="0"/>
          </a:p>
        </p:txBody>
      </p:sp>
      <p:sp>
        <p:nvSpPr>
          <p:cNvPr id="36" name="Text 29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enrichment — the product resolution ladder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L3/L4 text (“AMUL BUTTR 500g”) must resolve to a canonical product. The string space converges fast — so almost nothing should ever reach the LLM.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6FAFB"/>
          </a:solidFill>
          <a:ln w="19050">
            <a:solidFill>
              <a:srgbClr val="0299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21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Exact-match cache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0545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resolved strings hit a lookup table. Target: ~98% of daily volume within months.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87368" y="2560320"/>
            <a:ext cx="237744" cy="411480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9202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6FAFB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21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Vector similarity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50545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vector search: embed the string, match against the resolved catalog + Open Food Facts.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82128" y="2560320"/>
            <a:ext cx="237744" cy="411480"/>
          </a:xfrm>
          <a:prstGeom prst="rightArrow">
            <a:avLst/>
          </a:prstGeom>
          <a:solidFill>
            <a:srgbClr val="36454F"/>
          </a:solidFill>
          <a:ln/>
        </p:spPr>
      </p:sp>
      <p:sp>
        <p:nvSpPr>
          <p:cNvPr id="13" name="Shape 11"/>
          <p:cNvSpPr/>
          <p:nvPr/>
        </p:nvSpPr>
        <p:spPr>
          <a:xfrm>
            <a:off x="8138160" y="1920240"/>
            <a:ext cx="3520440" cy="1691640"/>
          </a:xfrm>
          <a:prstGeom prst="roundRect">
            <a:avLst>
              <a:gd name="adj" fmla="val 4865"/>
            </a:avLst>
          </a:prstGeom>
          <a:solidFill>
            <a:srgbClr val="F6FAFB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1214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LLM batch — novelties only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505456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batch: Gemini Flash Batch API (−50% cost) or self-hosted vLLM if it must stay in-house.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cache-hit rate is a first-class KPI — it is the lever that keeps LLM spend at $50–200/month.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43400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3F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4206240"/>
            <a:ext cx="502920" cy="502920"/>
          </a:xfrm>
          <a:prstGeom prst="ellipse">
            <a:avLst/>
          </a:prstGeom>
          <a:solidFill>
            <a:srgbClr val="02997A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2642" y="4316882"/>
            <a:ext cx="281635" cy="281635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212080" y="4187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every row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0" y="4800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product_catalog stores confidence + resolved_by (cache / vector / LLM / human). Low-confidence rows route to review, never silently into gold.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8138160" y="397764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EAF3F6"/>
          </a:solidFill>
          <a:ln/>
        </p:spPr>
      </p:sp>
      <p:sp>
        <p:nvSpPr>
          <p:cNvPr id="25" name="Shape 22"/>
          <p:cNvSpPr/>
          <p:nvPr/>
        </p:nvSpPr>
        <p:spPr>
          <a:xfrm>
            <a:off x="8366760" y="4206240"/>
            <a:ext cx="502920" cy="502920"/>
          </a:xfrm>
          <a:prstGeom prst="ellipse">
            <a:avLst/>
          </a:prstGeom>
          <a:solidFill>
            <a:srgbClr val="02997A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402" y="4316882"/>
            <a:ext cx="281635" cy="281635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006840" y="418795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loop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8366760" y="4800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 writes resolutions to silver.product_catalog; tomorrow's identical string is a cache hit. Estimated vs. verified nutrition is flagged in-schema.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privacy — DPDP / GDPR built into the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7F2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7565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733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to erasure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21031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deletion_requests table drives a nightly Cloud Run job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DELETE across bronze / silver / gold by device_id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prefix delete (raw/device_id=…)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purges in 7 d → comfortable 30-day SLA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tombstones retained as audit proof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7F2F4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645920"/>
            <a:ext cx="502920" cy="5029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442" y="17565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6733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as code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040880" y="210312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expiry + GCS lifecycle set in Terraform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→ Nearline 30 d → Coldline 90 d → Archive 365 d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retention change is a reviewed git PR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console-clicked policies, ever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AF3F6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4225442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1422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Sensitive-data controls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17320" y="4572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Dataplex policy tags on health-adjacent columns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from ad products at schema level, not policy level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Column-level security from day one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designed to survive individual erasure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EAF3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442" y="422544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14223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&amp; environments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040880" y="45720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Per-dataset IAM: analysts see gold only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pipeline service account touches bronze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stage / prod as separate GCP projects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VPC-SC perimeter once real user data lands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— three SLOs, not a dashboard zoo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6 h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Freshness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880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tables updated within 6 hours of each capture window. Dataplex freshness scans + dbt source_freshness feed Cloud Monitoring.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4599432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 30%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599432" y="2514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9432" y="2880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event volume per region stays within ±30% of the trailing 7-day median. This is the alarm that catches fleet-side breakage.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394192" y="1691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394192" y="2514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94192" y="28803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dbt tests pass on silver: event_id uniqueness, not-null keys, accepted L1 values, resolution-confidence drift.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11091672" cy="1645920"/>
          </a:xfrm>
          <a:prstGeom prst="roundRect">
            <a:avLst>
              <a:gd name="adj" fmla="val 5000"/>
            </a:avLst>
          </a:prstGeom>
          <a:solidFill>
            <a:srgbClr val="EAF3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signals (alert-worthy, not SLOs)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 job failures  ·  quarantine / rejected-event counts  ·  BigQuery bytes-billed budget alerts  ·  LLM cache-hit-rate KPI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Lineage: automatic via Dataplex for BigQuery jobs + dbt docs. Metrics export to Cloud Monitoring; Managed Prometheus (GMP) keeps it Grafana-compatible with the existing stack.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9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cost at 1M devices — order of magnitude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70408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463040"/>
            <a:ext cx="3776472" cy="2286000"/>
          </a:xfrm>
          <a:prstGeom prst="roundRect">
            <a:avLst>
              <a:gd name="adj" fmla="val 3600"/>
            </a:avLst>
          </a:prstGeom>
          <a:solidFill>
            <a:srgbClr val="21295C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6916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$350–1,100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138160" y="2423160"/>
            <a:ext cx="3246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month — roughly the cost of a single idle Composer environment, for the entire platform.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863840" y="3931920"/>
            <a:ext cx="3776472" cy="2194560"/>
          </a:xfrm>
          <a:prstGeom prst="roundRect">
            <a:avLst>
              <a:gd name="adj" fmla="val 3750"/>
            </a:avLst>
          </a:prstGeom>
          <a:solidFill>
            <a:srgbClr val="F6FAFB"/>
          </a:solidFill>
          <a:ln w="12700">
            <a:solidFill>
              <a:srgbClr val="D8E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4114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levers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38160" y="4480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storage billing: 3–5x cheaper for compressed JSON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require_partition_filter: kills accidental full scans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autoscaling slots only past ~$1.5–2K/mo scan spend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5105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 Intelligence Data Platform  ·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in three phases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2B356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8470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67789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MVP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81328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260604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GCS landing → load job → dbt bronze/silver/gold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Workflows + Scheduler orchestration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tests + 3 alerts: backlog, job failure, volume anomaly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baseline, dev/stage/prod projects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60020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2B3568"/>
          </a:solidFill>
          <a:ln/>
        </p:spPr>
      </p:sp>
      <p:sp>
        <p:nvSpPr>
          <p:cNvPr id="12" name="Shape 9"/>
          <p:cNvSpPr/>
          <p:nvPr/>
        </p:nvSpPr>
        <p:spPr>
          <a:xfrm>
            <a:off x="4599432" y="18470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1967789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Hardened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276088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17720" y="260604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Dataplex DQ scans, lineage, policy tags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cache + LLM batch enrichment loop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erasure job + tombstone audit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gates: state:modified+ builds on PR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38160" y="160020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2B3568"/>
          </a:solidFill>
          <a:ln/>
        </p:spPr>
      </p:sp>
      <p:sp>
        <p:nvSpPr>
          <p:cNvPr id="18" name="Shape 14"/>
          <p:cNvSpPr/>
          <p:nvPr/>
        </p:nvSpPr>
        <p:spPr>
          <a:xfrm>
            <a:off x="8394192" y="184708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893" y="1967789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070848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Scale &amp; productize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9070848" y="21579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3+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412480" y="260604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commitments when scan spend justifies 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streaming path for real-time features only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feature marts → segments &amp; panels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9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TV-ACR join for closed-loop attribution pilots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step: stand up the Terraform + dbt starter repo and load one week of synthetic diff events end-to-end.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2026-07-14T13:50:01Z</dcterms:created>
  <dcterms:modified xsi:type="dcterms:W3CDTF">2026-07-14T13:50:01Z</dcterms:modified>
</cp:coreProperties>
</file>